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0" y="4480560"/>
            <a:ext cx="12191695" cy="45720"/>
          </a:xfrm>
          <a:prstGeom prst="rect">
            <a:avLst/>
          </a:prstGeom>
          <a:solidFill>
            <a:srgbClr val="2E74B5"/>
          </a:solidFill>
          <a:ln/>
        </p:spPr>
      </p:sp>
      <p:sp>
        <p:nvSpPr>
          <p:cNvPr id="3" name="Text 1"/>
          <p:cNvSpPr/>
          <p:nvPr/>
        </p:nvSpPr>
        <p:spPr>
          <a:xfrm>
            <a:off x="914400" y="1828800"/>
            <a:ext cx="10332720" cy="1005840"/>
          </a:xfrm>
          <a:prstGeom prst="rect">
            <a:avLst/>
          </a:prstGeom>
          <a:noFill/>
          <a:ln/>
        </p:spPr>
        <p:txBody>
          <a:bodyPr wrap="square" rtlCol="0" anchor="ctr"/>
          <a:lstStyle/>
          <a:p>
            <a:pPr algn="ctr" indent="0" marL="0">
              <a:buNone/>
            </a:pPr>
            <a:r>
              <a:rPr lang="en-US" sz="3800" b="1" dirty="0">
                <a:solidFill>
                  <a:srgbClr val="FFFFFF"/>
                </a:solidFill>
                <a:latin typeface="微软雅黑" pitchFamily="34" charset="0"/>
                <a:ea typeface="微软雅黑" pitchFamily="34" charset="-122"/>
                <a:cs typeface="微软雅黑" pitchFamily="34" charset="-120"/>
              </a:rPr>
              <a:t>计算机网络基础</a:t>
            </a:r>
            <a:endParaRPr lang="en-US" sz="3800" dirty="0"/>
          </a:p>
        </p:txBody>
      </p:sp>
      <p:sp>
        <p:nvSpPr>
          <p:cNvPr id="4" name="Text 2"/>
          <p:cNvSpPr/>
          <p:nvPr/>
        </p:nvSpPr>
        <p:spPr>
          <a:xfrm>
            <a:off x="914400" y="2834640"/>
            <a:ext cx="10332720" cy="731520"/>
          </a:xfrm>
          <a:prstGeom prst="rect">
            <a:avLst/>
          </a:prstGeom>
          <a:noFill/>
          <a:ln/>
        </p:spPr>
        <p:txBody>
          <a:bodyPr wrap="square" rtlCol="0" anchor="ctr"/>
          <a:lstStyle/>
          <a:p>
            <a:pPr algn="ctr" indent="0" marL="0">
              <a:buNone/>
            </a:pPr>
            <a:r>
              <a:rPr lang="en-US" sz="2400" dirty="0">
                <a:solidFill>
                  <a:srgbClr val="D6E4F0"/>
                </a:solidFill>
                <a:latin typeface="微软雅黑" pitchFamily="34" charset="0"/>
                <a:ea typeface="微软雅黑" pitchFamily="34" charset="-122"/>
                <a:cs typeface="微软雅黑" pitchFamily="34" charset="-120"/>
              </a:rPr>
              <a:t>第3章 网络层 · IP地址与子网划分</a:t>
            </a:r>
            <a:endParaRPr lang="en-US" sz="2400" dirty="0"/>
          </a:p>
        </p:txBody>
      </p:sp>
      <p:sp>
        <p:nvSpPr>
          <p:cNvPr id="5" name="Text 3"/>
          <p:cNvSpPr/>
          <p:nvPr/>
        </p:nvSpPr>
        <p:spPr>
          <a:xfrm>
            <a:off x="914400" y="4754880"/>
            <a:ext cx="10332720" cy="457200"/>
          </a:xfrm>
          <a:prstGeom prst="rect">
            <a:avLst/>
          </a:prstGeom>
          <a:noFill/>
          <a:ln/>
        </p:spPr>
        <p:txBody>
          <a:bodyPr wrap="square" rtlCol="0" anchor="ctr"/>
          <a:lstStyle/>
          <a:p>
            <a:pPr algn="ctr" indent="0" marL="0">
              <a:buNone/>
            </a:pPr>
            <a:r>
              <a:rPr lang="en-US" sz="1400" dirty="0">
                <a:solidFill>
                  <a:srgbClr val="FFFFFF"/>
                </a:solidFill>
                <a:latin typeface="微软雅黑" pitchFamily="34" charset="0"/>
                <a:ea typeface="微软雅黑" pitchFamily="34" charset="-122"/>
                <a:cs typeface="微软雅黑" pitchFamily="34" charset="-120"/>
              </a:rPr>
              <a:t>授课教师：张老师（网络技术教研室）　　2025年3月18日（第5周 周二 3-4节）</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F3864"/>
          </a:solidFill>
          <a:ln/>
        </p:spPr>
      </p:sp>
      <p:sp>
        <p:nvSpPr>
          <p:cNvPr id="3" name="Shape 1"/>
          <p:cNvSpPr/>
          <p:nvPr/>
        </p:nvSpPr>
        <p:spPr>
          <a:xfrm>
            <a:off x="0" y="960120"/>
            <a:ext cx="12191695" cy="54864"/>
          </a:xfrm>
          <a:prstGeom prst="rect">
            <a:avLst/>
          </a:prstGeom>
          <a:solidFill>
            <a:srgbClr val="2E74B5"/>
          </a:solidFill>
          <a:ln/>
        </p:spPr>
      </p:sp>
      <p:sp>
        <p:nvSpPr>
          <p:cNvPr id="4" name="Text 2"/>
          <p:cNvSpPr/>
          <p:nvPr/>
        </p:nvSpPr>
        <p:spPr>
          <a:xfrm>
            <a:off x="411480" y="109728"/>
            <a:ext cx="11338560" cy="731520"/>
          </a:xfrm>
          <a:prstGeom prst="rect">
            <a:avLst/>
          </a:prstGeom>
          <a:noFill/>
          <a:ln/>
        </p:spPr>
        <p:txBody>
          <a:bodyPr wrap="square"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学习目标</a:t>
            </a:r>
            <a:endParaRPr lang="en-US" sz="2400" dirty="0"/>
          </a:p>
        </p:txBody>
      </p:sp>
      <p:sp>
        <p:nvSpPr>
          <p:cNvPr id="5" name="Text 3"/>
          <p:cNvSpPr/>
          <p:nvPr/>
        </p:nvSpPr>
        <p:spPr>
          <a:xfrm>
            <a:off x="640080" y="1463040"/>
            <a:ext cx="10881360" cy="4937760"/>
          </a:xfrm>
          <a:prstGeom prst="rect">
            <a:avLst/>
          </a:prstGeom>
          <a:noFill/>
          <a:ln/>
        </p:spPr>
        <p:txBody>
          <a:bodyPr wrap="square" rtlCol="0" anchor="t"/>
          <a:lstStyle/>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知识目标｜能说出IPv4地址'网络号+主机号'的结构与点分十进制表示，能判断A/B/C类地址的范围与默认掩码，了解D类（224~239组播）、E类（240~255保留）地址的用途及二者不分配给主机接口，能列举127.0.0.1环回、主机位全0/全1、RFC 1918私有地址等特殊地址的作用。</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能力目标｜会将IP地址与子网掩码按位'与'运算求网络地址，能运用借位法和块大小法，根据'N个子网/每子网M台主机'的需求独立完成子网划分并写出子网四要素（子网地址、可用范围、广播地址、可用主机数），能在Packet Tracer中调用模板配置IP并验证连通性；拓展层会用CIDR'地址/前缀'记法表示网络，能按VLSM思想由大到小按需分配地址。</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素养目标｜养成'先算后配、步步核对'的严谨工程习惯与规范意识，通过分组项目与角色轮换体会网络工程师岗位的协作精神与责任担当，理解地址节约与合理规划对绿色运维的意义。</a:t>
            </a:r>
            <a:endParaRPr lang="en-US" sz="1800" dirty="0"/>
          </a:p>
        </p:txBody>
      </p:sp>
      <p:sp>
        <p:nvSpPr>
          <p:cNvPr id="6" name="Text 4"/>
          <p:cNvSpPr/>
          <p:nvPr/>
        </p:nvSpPr>
        <p:spPr>
          <a:xfrm>
            <a:off x="411480" y="6446520"/>
            <a:ext cx="3657600" cy="274320"/>
          </a:xfrm>
          <a:prstGeom prst="rect">
            <a:avLst/>
          </a:prstGeom>
          <a:noFill/>
          <a:ln/>
        </p:spPr>
        <p:txBody>
          <a:bodyPr wrap="square" rtlCol="0" anchor="ctr"/>
          <a:lstStyle/>
          <a:p>
            <a:pPr indent="0" marL="0">
              <a:buNone/>
            </a:pPr>
            <a:r>
              <a:rPr lang="en-US" sz="900" dirty="0">
                <a:solidFill>
                  <a:srgbClr val="B0B0B0"/>
                </a:solidFill>
                <a:latin typeface="微软雅黑" pitchFamily="34" charset="0"/>
                <a:ea typeface="微软雅黑" pitchFamily="34" charset="-122"/>
                <a:cs typeface="微软雅黑" pitchFamily="34" charset="-120"/>
              </a:rPr>
              <a:t>智备教案 · AI 一键生成</a:t>
            </a:r>
            <a:endParaRPr lang="en-US" sz="900" dirty="0"/>
          </a:p>
        </p:txBody>
      </p:sp>
      <p:sp>
        <p:nvSpPr>
          <p:cNvPr id="7" name="Text 5"/>
          <p:cNvSpPr/>
          <p:nvPr/>
        </p:nvSpPr>
        <p:spPr>
          <a:xfrm>
            <a:off x="10424160" y="6446520"/>
            <a:ext cx="1371600" cy="274320"/>
          </a:xfrm>
          <a:prstGeom prst="rect">
            <a:avLst/>
          </a:prstGeom>
          <a:noFill/>
          <a:ln/>
        </p:spPr>
        <p:txBody>
          <a:bodyPr wrap="square" rtlCol="0" anchor="ctr"/>
          <a:lstStyle/>
          <a:p>
            <a:pPr algn="r" indent="0" marL="0">
              <a:buNone/>
            </a:pPr>
            <a:r>
              <a:rPr lang="en-US" sz="900" dirty="0">
                <a:solidFill>
                  <a:srgbClr val="B0B0B0"/>
                </a:solidFill>
                <a:latin typeface="微软雅黑" pitchFamily="34" charset="0"/>
                <a:ea typeface="微软雅黑" pitchFamily="34" charset="-122"/>
                <a:cs typeface="微软雅黑" pitchFamily="34" charset="-120"/>
              </a:rPr>
              <a:t>2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F3864"/>
          </a:solidFill>
          <a:ln/>
        </p:spPr>
      </p:sp>
      <p:sp>
        <p:nvSpPr>
          <p:cNvPr id="3" name="Shape 1"/>
          <p:cNvSpPr/>
          <p:nvPr/>
        </p:nvSpPr>
        <p:spPr>
          <a:xfrm>
            <a:off x="0" y="960120"/>
            <a:ext cx="12191695" cy="54864"/>
          </a:xfrm>
          <a:prstGeom prst="rect">
            <a:avLst/>
          </a:prstGeom>
          <a:solidFill>
            <a:srgbClr val="2E74B5"/>
          </a:solidFill>
          <a:ln/>
        </p:spPr>
      </p:sp>
      <p:sp>
        <p:nvSpPr>
          <p:cNvPr id="4" name="Text 2"/>
          <p:cNvSpPr/>
          <p:nvPr/>
        </p:nvSpPr>
        <p:spPr>
          <a:xfrm>
            <a:off x="411480" y="109728"/>
            <a:ext cx="11338560" cy="731520"/>
          </a:xfrm>
          <a:prstGeom prst="rect">
            <a:avLst/>
          </a:prstGeom>
          <a:noFill/>
          <a:ln/>
        </p:spPr>
        <p:txBody>
          <a:bodyPr wrap="square"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知识框架</a:t>
            </a:r>
            <a:endParaRPr lang="en-US" sz="2400" dirty="0"/>
          </a:p>
        </p:txBody>
      </p:sp>
      <p:sp>
        <p:nvSpPr>
          <p:cNvPr id="5" name="Text 3"/>
          <p:cNvSpPr/>
          <p:nvPr/>
        </p:nvSpPr>
        <p:spPr>
          <a:xfrm>
            <a:off x="640080" y="1463040"/>
            <a:ext cx="10881360" cy="4937760"/>
          </a:xfrm>
          <a:prstGeom prst="rect">
            <a:avLst/>
          </a:prstGeom>
          <a:noFill/>
          <a:ln/>
        </p:spPr>
        <p:txBody>
          <a:bodyPr wrap="square" rtlCol="0" anchor="t"/>
          <a:lstStyle/>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第 1 讲｜IP地址的概念与分类</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第 2 讲｜子网掩码的作用</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第 3 讲｜子网划分的方法</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第 4 讲｜CIDR 无类别编址</a:t>
            </a:r>
            <a:endParaRPr lang="en-US" sz="1800" dirty="0"/>
          </a:p>
        </p:txBody>
      </p:sp>
      <p:sp>
        <p:nvSpPr>
          <p:cNvPr id="6" name="Text 4"/>
          <p:cNvSpPr/>
          <p:nvPr/>
        </p:nvSpPr>
        <p:spPr>
          <a:xfrm>
            <a:off x="411480" y="6446520"/>
            <a:ext cx="3657600" cy="274320"/>
          </a:xfrm>
          <a:prstGeom prst="rect">
            <a:avLst/>
          </a:prstGeom>
          <a:noFill/>
          <a:ln/>
        </p:spPr>
        <p:txBody>
          <a:bodyPr wrap="square" rtlCol="0" anchor="ctr"/>
          <a:lstStyle/>
          <a:p>
            <a:pPr indent="0" marL="0">
              <a:buNone/>
            </a:pPr>
            <a:r>
              <a:rPr lang="en-US" sz="900" dirty="0">
                <a:solidFill>
                  <a:srgbClr val="B0B0B0"/>
                </a:solidFill>
                <a:latin typeface="微软雅黑" pitchFamily="34" charset="0"/>
                <a:ea typeface="微软雅黑" pitchFamily="34" charset="-122"/>
                <a:cs typeface="微软雅黑" pitchFamily="34" charset="-120"/>
              </a:rPr>
              <a:t>智备教案 · AI 一键生成</a:t>
            </a:r>
            <a:endParaRPr lang="en-US" sz="900" dirty="0"/>
          </a:p>
        </p:txBody>
      </p:sp>
      <p:sp>
        <p:nvSpPr>
          <p:cNvPr id="7" name="Text 5"/>
          <p:cNvSpPr/>
          <p:nvPr/>
        </p:nvSpPr>
        <p:spPr>
          <a:xfrm>
            <a:off x="10424160" y="6446520"/>
            <a:ext cx="1371600" cy="274320"/>
          </a:xfrm>
          <a:prstGeom prst="rect">
            <a:avLst/>
          </a:prstGeom>
          <a:noFill/>
          <a:ln/>
        </p:spPr>
        <p:txBody>
          <a:bodyPr wrap="square" rtlCol="0" anchor="ctr"/>
          <a:lstStyle/>
          <a:p>
            <a:pPr algn="r" indent="0" marL="0">
              <a:buNone/>
            </a:pPr>
            <a:r>
              <a:rPr lang="en-US" sz="900" dirty="0">
                <a:solidFill>
                  <a:srgbClr val="B0B0B0"/>
                </a:solidFill>
                <a:latin typeface="微软雅黑" pitchFamily="34" charset="0"/>
                <a:ea typeface="微软雅黑" pitchFamily="34" charset="-122"/>
                <a:cs typeface="微软雅黑" pitchFamily="34" charset="-120"/>
              </a:rPr>
              <a:t>3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F3864"/>
          </a:solidFill>
          <a:ln/>
        </p:spPr>
      </p:sp>
      <p:sp>
        <p:nvSpPr>
          <p:cNvPr id="3" name="Shape 1"/>
          <p:cNvSpPr/>
          <p:nvPr/>
        </p:nvSpPr>
        <p:spPr>
          <a:xfrm>
            <a:off x="0" y="960120"/>
            <a:ext cx="12191695" cy="54864"/>
          </a:xfrm>
          <a:prstGeom prst="rect">
            <a:avLst/>
          </a:prstGeom>
          <a:solidFill>
            <a:srgbClr val="2E74B5"/>
          </a:solidFill>
          <a:ln/>
        </p:spPr>
      </p:sp>
      <p:sp>
        <p:nvSpPr>
          <p:cNvPr id="4" name="Text 2"/>
          <p:cNvSpPr/>
          <p:nvPr/>
        </p:nvSpPr>
        <p:spPr>
          <a:xfrm>
            <a:off x="411480" y="109728"/>
            <a:ext cx="11338560" cy="731520"/>
          </a:xfrm>
          <a:prstGeom prst="rect">
            <a:avLst/>
          </a:prstGeom>
          <a:noFill/>
          <a:ln/>
        </p:spPr>
        <p:txBody>
          <a:bodyPr wrap="square"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知识点 1｜IP地址的概念与分类</a:t>
            </a:r>
            <a:endParaRPr lang="en-US" sz="2400" dirty="0"/>
          </a:p>
        </p:txBody>
      </p:sp>
      <p:sp>
        <p:nvSpPr>
          <p:cNvPr id="5" name="Text 3"/>
          <p:cNvSpPr/>
          <p:nvPr/>
        </p:nvSpPr>
        <p:spPr>
          <a:xfrm>
            <a:off x="640080" y="1463040"/>
            <a:ext cx="10881360" cy="4937760"/>
          </a:xfrm>
          <a:prstGeom prst="rect">
            <a:avLst/>
          </a:prstGeom>
          <a:noFill/>
          <a:ln/>
        </p:spPr>
        <p:txBody>
          <a:bodyPr wrap="square" rtlCol="0" anchor="t"/>
          <a:lstStyle/>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核心概念：IP地址的概念与分类 的基本定义与内涵</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关键要点：IP地址的概念与分类 的主要特征与判断标准</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应用场景：IP地址的概念与分类 在真实任务中的典型用法</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常见误区：IP地址的概念与分类 易混淆点与注意事项</a:t>
            </a:r>
            <a:endParaRPr lang="en-US" sz="1800" dirty="0"/>
          </a:p>
        </p:txBody>
      </p:sp>
      <p:sp>
        <p:nvSpPr>
          <p:cNvPr id="6" name="Text 4"/>
          <p:cNvSpPr/>
          <p:nvPr/>
        </p:nvSpPr>
        <p:spPr>
          <a:xfrm>
            <a:off x="411480" y="6446520"/>
            <a:ext cx="3657600" cy="274320"/>
          </a:xfrm>
          <a:prstGeom prst="rect">
            <a:avLst/>
          </a:prstGeom>
          <a:noFill/>
          <a:ln/>
        </p:spPr>
        <p:txBody>
          <a:bodyPr wrap="square" rtlCol="0" anchor="ctr"/>
          <a:lstStyle/>
          <a:p>
            <a:pPr indent="0" marL="0">
              <a:buNone/>
            </a:pPr>
            <a:r>
              <a:rPr lang="en-US" sz="900" dirty="0">
                <a:solidFill>
                  <a:srgbClr val="B0B0B0"/>
                </a:solidFill>
                <a:latin typeface="微软雅黑" pitchFamily="34" charset="0"/>
                <a:ea typeface="微软雅黑" pitchFamily="34" charset="-122"/>
                <a:cs typeface="微软雅黑" pitchFamily="34" charset="-120"/>
              </a:rPr>
              <a:t>智备教案 · AI 一键生成</a:t>
            </a:r>
            <a:endParaRPr lang="en-US" sz="900" dirty="0"/>
          </a:p>
        </p:txBody>
      </p:sp>
      <p:sp>
        <p:nvSpPr>
          <p:cNvPr id="7" name="Text 5"/>
          <p:cNvSpPr/>
          <p:nvPr/>
        </p:nvSpPr>
        <p:spPr>
          <a:xfrm>
            <a:off x="10424160" y="6446520"/>
            <a:ext cx="1371600" cy="274320"/>
          </a:xfrm>
          <a:prstGeom prst="rect">
            <a:avLst/>
          </a:prstGeom>
          <a:noFill/>
          <a:ln/>
        </p:spPr>
        <p:txBody>
          <a:bodyPr wrap="square" rtlCol="0" anchor="ctr"/>
          <a:lstStyle/>
          <a:p>
            <a:pPr algn="r" indent="0" marL="0">
              <a:buNone/>
            </a:pPr>
            <a:r>
              <a:rPr lang="en-US" sz="900" dirty="0">
                <a:solidFill>
                  <a:srgbClr val="B0B0B0"/>
                </a:solidFill>
                <a:latin typeface="微软雅黑" pitchFamily="34" charset="0"/>
                <a:ea typeface="微软雅黑" pitchFamily="34" charset="-122"/>
                <a:cs typeface="微软雅黑" pitchFamily="34" charset="-120"/>
              </a:rPr>
              <a:t>4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F3864"/>
          </a:solidFill>
          <a:ln/>
        </p:spPr>
      </p:sp>
      <p:sp>
        <p:nvSpPr>
          <p:cNvPr id="3" name="Shape 1"/>
          <p:cNvSpPr/>
          <p:nvPr/>
        </p:nvSpPr>
        <p:spPr>
          <a:xfrm>
            <a:off x="0" y="960120"/>
            <a:ext cx="12191695" cy="54864"/>
          </a:xfrm>
          <a:prstGeom prst="rect">
            <a:avLst/>
          </a:prstGeom>
          <a:solidFill>
            <a:srgbClr val="2E74B5"/>
          </a:solidFill>
          <a:ln/>
        </p:spPr>
      </p:sp>
      <p:sp>
        <p:nvSpPr>
          <p:cNvPr id="4" name="Text 2"/>
          <p:cNvSpPr/>
          <p:nvPr/>
        </p:nvSpPr>
        <p:spPr>
          <a:xfrm>
            <a:off x="411480" y="109728"/>
            <a:ext cx="11338560" cy="731520"/>
          </a:xfrm>
          <a:prstGeom prst="rect">
            <a:avLst/>
          </a:prstGeom>
          <a:noFill/>
          <a:ln/>
        </p:spPr>
        <p:txBody>
          <a:bodyPr wrap="square"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知识点 2｜子网掩码的作用</a:t>
            </a:r>
            <a:endParaRPr lang="en-US" sz="2400" dirty="0"/>
          </a:p>
        </p:txBody>
      </p:sp>
      <p:sp>
        <p:nvSpPr>
          <p:cNvPr id="5" name="Text 3"/>
          <p:cNvSpPr/>
          <p:nvPr/>
        </p:nvSpPr>
        <p:spPr>
          <a:xfrm>
            <a:off x="640080" y="1463040"/>
            <a:ext cx="10881360" cy="4937760"/>
          </a:xfrm>
          <a:prstGeom prst="rect">
            <a:avLst/>
          </a:prstGeom>
          <a:noFill/>
          <a:ln/>
        </p:spPr>
        <p:txBody>
          <a:bodyPr wrap="square" rtlCol="0" anchor="t"/>
          <a:lstStyle/>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核心概念：子网掩码的作用 的基本定义与内涵</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关键要点：子网掩码的作用 的主要特征与判断标准</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应用场景：子网掩码的作用 在真实任务中的典型用法</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常见误区：子网掩码的作用 易混淆点与注意事项</a:t>
            </a:r>
            <a:endParaRPr lang="en-US" sz="1800" dirty="0"/>
          </a:p>
        </p:txBody>
      </p:sp>
      <p:sp>
        <p:nvSpPr>
          <p:cNvPr id="6" name="Text 4"/>
          <p:cNvSpPr/>
          <p:nvPr/>
        </p:nvSpPr>
        <p:spPr>
          <a:xfrm>
            <a:off x="411480" y="6446520"/>
            <a:ext cx="3657600" cy="274320"/>
          </a:xfrm>
          <a:prstGeom prst="rect">
            <a:avLst/>
          </a:prstGeom>
          <a:noFill/>
          <a:ln/>
        </p:spPr>
        <p:txBody>
          <a:bodyPr wrap="square" rtlCol="0" anchor="ctr"/>
          <a:lstStyle/>
          <a:p>
            <a:pPr indent="0" marL="0">
              <a:buNone/>
            </a:pPr>
            <a:r>
              <a:rPr lang="en-US" sz="900" dirty="0">
                <a:solidFill>
                  <a:srgbClr val="B0B0B0"/>
                </a:solidFill>
                <a:latin typeface="微软雅黑" pitchFamily="34" charset="0"/>
                <a:ea typeface="微软雅黑" pitchFamily="34" charset="-122"/>
                <a:cs typeface="微软雅黑" pitchFamily="34" charset="-120"/>
              </a:rPr>
              <a:t>智备教案 · AI 一键生成</a:t>
            </a:r>
            <a:endParaRPr lang="en-US" sz="900" dirty="0"/>
          </a:p>
        </p:txBody>
      </p:sp>
      <p:sp>
        <p:nvSpPr>
          <p:cNvPr id="7" name="Text 5"/>
          <p:cNvSpPr/>
          <p:nvPr/>
        </p:nvSpPr>
        <p:spPr>
          <a:xfrm>
            <a:off x="10424160" y="6446520"/>
            <a:ext cx="1371600" cy="274320"/>
          </a:xfrm>
          <a:prstGeom prst="rect">
            <a:avLst/>
          </a:prstGeom>
          <a:noFill/>
          <a:ln/>
        </p:spPr>
        <p:txBody>
          <a:bodyPr wrap="square" rtlCol="0" anchor="ctr"/>
          <a:lstStyle/>
          <a:p>
            <a:pPr algn="r" indent="0" marL="0">
              <a:buNone/>
            </a:pPr>
            <a:r>
              <a:rPr lang="en-US" sz="900" dirty="0">
                <a:solidFill>
                  <a:srgbClr val="B0B0B0"/>
                </a:solidFill>
                <a:latin typeface="微软雅黑" pitchFamily="34" charset="0"/>
                <a:ea typeface="微软雅黑" pitchFamily="34" charset="-122"/>
                <a:cs typeface="微软雅黑" pitchFamily="34" charset="-120"/>
              </a:rPr>
              <a:t>5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F3864"/>
          </a:solidFill>
          <a:ln/>
        </p:spPr>
      </p:sp>
      <p:sp>
        <p:nvSpPr>
          <p:cNvPr id="3" name="Shape 1"/>
          <p:cNvSpPr/>
          <p:nvPr/>
        </p:nvSpPr>
        <p:spPr>
          <a:xfrm>
            <a:off x="0" y="960120"/>
            <a:ext cx="12191695" cy="54864"/>
          </a:xfrm>
          <a:prstGeom prst="rect">
            <a:avLst/>
          </a:prstGeom>
          <a:solidFill>
            <a:srgbClr val="2E74B5"/>
          </a:solidFill>
          <a:ln/>
        </p:spPr>
      </p:sp>
      <p:sp>
        <p:nvSpPr>
          <p:cNvPr id="4" name="Text 2"/>
          <p:cNvSpPr/>
          <p:nvPr/>
        </p:nvSpPr>
        <p:spPr>
          <a:xfrm>
            <a:off x="411480" y="109728"/>
            <a:ext cx="11338560" cy="731520"/>
          </a:xfrm>
          <a:prstGeom prst="rect">
            <a:avLst/>
          </a:prstGeom>
          <a:noFill/>
          <a:ln/>
        </p:spPr>
        <p:txBody>
          <a:bodyPr wrap="square"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知识点 3｜子网划分的方法</a:t>
            </a:r>
            <a:endParaRPr lang="en-US" sz="2400" dirty="0"/>
          </a:p>
        </p:txBody>
      </p:sp>
      <p:sp>
        <p:nvSpPr>
          <p:cNvPr id="5" name="Text 3"/>
          <p:cNvSpPr/>
          <p:nvPr/>
        </p:nvSpPr>
        <p:spPr>
          <a:xfrm>
            <a:off x="640080" y="1463040"/>
            <a:ext cx="10881360" cy="4937760"/>
          </a:xfrm>
          <a:prstGeom prst="rect">
            <a:avLst/>
          </a:prstGeom>
          <a:noFill/>
          <a:ln/>
        </p:spPr>
        <p:txBody>
          <a:bodyPr wrap="square" rtlCol="0" anchor="t"/>
          <a:lstStyle/>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核心概念：子网划分的方法 的基本定义与内涵</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关键要点：子网划分的方法 的主要特征与判断标准</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应用场景：子网划分的方法 在真实任务中的典型用法</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常见误区：子网划分的方法 易混淆点与注意事项</a:t>
            </a:r>
            <a:endParaRPr lang="en-US" sz="1800" dirty="0"/>
          </a:p>
        </p:txBody>
      </p:sp>
      <p:sp>
        <p:nvSpPr>
          <p:cNvPr id="6" name="Text 4"/>
          <p:cNvSpPr/>
          <p:nvPr/>
        </p:nvSpPr>
        <p:spPr>
          <a:xfrm>
            <a:off x="411480" y="6446520"/>
            <a:ext cx="3657600" cy="274320"/>
          </a:xfrm>
          <a:prstGeom prst="rect">
            <a:avLst/>
          </a:prstGeom>
          <a:noFill/>
          <a:ln/>
        </p:spPr>
        <p:txBody>
          <a:bodyPr wrap="square" rtlCol="0" anchor="ctr"/>
          <a:lstStyle/>
          <a:p>
            <a:pPr indent="0" marL="0">
              <a:buNone/>
            </a:pPr>
            <a:r>
              <a:rPr lang="en-US" sz="900" dirty="0">
                <a:solidFill>
                  <a:srgbClr val="B0B0B0"/>
                </a:solidFill>
                <a:latin typeface="微软雅黑" pitchFamily="34" charset="0"/>
                <a:ea typeface="微软雅黑" pitchFamily="34" charset="-122"/>
                <a:cs typeface="微软雅黑" pitchFamily="34" charset="-120"/>
              </a:rPr>
              <a:t>智备教案 · AI 一键生成</a:t>
            </a:r>
            <a:endParaRPr lang="en-US" sz="900" dirty="0"/>
          </a:p>
        </p:txBody>
      </p:sp>
      <p:sp>
        <p:nvSpPr>
          <p:cNvPr id="7" name="Text 5"/>
          <p:cNvSpPr/>
          <p:nvPr/>
        </p:nvSpPr>
        <p:spPr>
          <a:xfrm>
            <a:off x="10424160" y="6446520"/>
            <a:ext cx="1371600" cy="274320"/>
          </a:xfrm>
          <a:prstGeom prst="rect">
            <a:avLst/>
          </a:prstGeom>
          <a:noFill/>
          <a:ln/>
        </p:spPr>
        <p:txBody>
          <a:bodyPr wrap="square" rtlCol="0" anchor="ctr"/>
          <a:lstStyle/>
          <a:p>
            <a:pPr algn="r" indent="0" marL="0">
              <a:buNone/>
            </a:pPr>
            <a:r>
              <a:rPr lang="en-US" sz="900" dirty="0">
                <a:solidFill>
                  <a:srgbClr val="B0B0B0"/>
                </a:solidFill>
                <a:latin typeface="微软雅黑" pitchFamily="34" charset="0"/>
                <a:ea typeface="微软雅黑" pitchFamily="34" charset="-122"/>
                <a:cs typeface="微软雅黑" pitchFamily="34" charset="-120"/>
              </a:rPr>
              <a:t>6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F3864"/>
          </a:solidFill>
          <a:ln/>
        </p:spPr>
      </p:sp>
      <p:sp>
        <p:nvSpPr>
          <p:cNvPr id="3" name="Shape 1"/>
          <p:cNvSpPr/>
          <p:nvPr/>
        </p:nvSpPr>
        <p:spPr>
          <a:xfrm>
            <a:off x="0" y="960120"/>
            <a:ext cx="12191695" cy="54864"/>
          </a:xfrm>
          <a:prstGeom prst="rect">
            <a:avLst/>
          </a:prstGeom>
          <a:solidFill>
            <a:srgbClr val="2E74B5"/>
          </a:solidFill>
          <a:ln/>
        </p:spPr>
      </p:sp>
      <p:sp>
        <p:nvSpPr>
          <p:cNvPr id="4" name="Text 2"/>
          <p:cNvSpPr/>
          <p:nvPr/>
        </p:nvSpPr>
        <p:spPr>
          <a:xfrm>
            <a:off x="411480" y="109728"/>
            <a:ext cx="11338560" cy="731520"/>
          </a:xfrm>
          <a:prstGeom prst="rect">
            <a:avLst/>
          </a:prstGeom>
          <a:noFill/>
          <a:ln/>
        </p:spPr>
        <p:txBody>
          <a:bodyPr wrap="square"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知识点 4｜CIDR 无类别编址</a:t>
            </a:r>
            <a:endParaRPr lang="en-US" sz="2400" dirty="0"/>
          </a:p>
        </p:txBody>
      </p:sp>
      <p:sp>
        <p:nvSpPr>
          <p:cNvPr id="5" name="Text 3"/>
          <p:cNvSpPr/>
          <p:nvPr/>
        </p:nvSpPr>
        <p:spPr>
          <a:xfrm>
            <a:off x="640080" y="1463040"/>
            <a:ext cx="10881360" cy="4937760"/>
          </a:xfrm>
          <a:prstGeom prst="rect">
            <a:avLst/>
          </a:prstGeom>
          <a:noFill/>
          <a:ln/>
        </p:spPr>
        <p:txBody>
          <a:bodyPr wrap="square" rtlCol="0" anchor="t"/>
          <a:lstStyle/>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核心概念：CIDR 无类别编址 的基本定义与内涵</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关键要点：CIDR 无类别编址 的主要特征与判断标准</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应用场景：CIDR 无类别编址 在真实任务中的典型用法</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常见误区：CIDR 无类别编址 易混淆点与注意事项</a:t>
            </a:r>
            <a:endParaRPr lang="en-US" sz="1800" dirty="0"/>
          </a:p>
        </p:txBody>
      </p:sp>
      <p:sp>
        <p:nvSpPr>
          <p:cNvPr id="6" name="Text 4"/>
          <p:cNvSpPr/>
          <p:nvPr/>
        </p:nvSpPr>
        <p:spPr>
          <a:xfrm>
            <a:off x="411480" y="6446520"/>
            <a:ext cx="3657600" cy="274320"/>
          </a:xfrm>
          <a:prstGeom prst="rect">
            <a:avLst/>
          </a:prstGeom>
          <a:noFill/>
          <a:ln/>
        </p:spPr>
        <p:txBody>
          <a:bodyPr wrap="square" rtlCol="0" anchor="ctr"/>
          <a:lstStyle/>
          <a:p>
            <a:pPr indent="0" marL="0">
              <a:buNone/>
            </a:pPr>
            <a:r>
              <a:rPr lang="en-US" sz="900" dirty="0">
                <a:solidFill>
                  <a:srgbClr val="B0B0B0"/>
                </a:solidFill>
                <a:latin typeface="微软雅黑" pitchFamily="34" charset="0"/>
                <a:ea typeface="微软雅黑" pitchFamily="34" charset="-122"/>
                <a:cs typeface="微软雅黑" pitchFamily="34" charset="-120"/>
              </a:rPr>
              <a:t>智备教案 · AI 一键生成</a:t>
            </a:r>
            <a:endParaRPr lang="en-US" sz="900" dirty="0"/>
          </a:p>
        </p:txBody>
      </p:sp>
      <p:sp>
        <p:nvSpPr>
          <p:cNvPr id="7" name="Text 5"/>
          <p:cNvSpPr/>
          <p:nvPr/>
        </p:nvSpPr>
        <p:spPr>
          <a:xfrm>
            <a:off x="10424160" y="6446520"/>
            <a:ext cx="1371600" cy="274320"/>
          </a:xfrm>
          <a:prstGeom prst="rect">
            <a:avLst/>
          </a:prstGeom>
          <a:noFill/>
          <a:ln/>
        </p:spPr>
        <p:txBody>
          <a:bodyPr wrap="square" rtlCol="0" anchor="ctr"/>
          <a:lstStyle/>
          <a:p>
            <a:pPr algn="r" indent="0" marL="0">
              <a:buNone/>
            </a:pPr>
            <a:r>
              <a:rPr lang="en-US" sz="900" dirty="0">
                <a:solidFill>
                  <a:srgbClr val="B0B0B0"/>
                </a:solidFill>
                <a:latin typeface="微软雅黑" pitchFamily="34" charset="0"/>
                <a:ea typeface="微软雅黑" pitchFamily="34" charset="-122"/>
                <a:cs typeface="微软雅黑" pitchFamily="34" charset="-120"/>
              </a:rPr>
              <a:t>7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F3864"/>
          </a:solidFill>
          <a:ln/>
        </p:spPr>
      </p:sp>
      <p:sp>
        <p:nvSpPr>
          <p:cNvPr id="3" name="Shape 1"/>
          <p:cNvSpPr/>
          <p:nvPr/>
        </p:nvSpPr>
        <p:spPr>
          <a:xfrm>
            <a:off x="0" y="960120"/>
            <a:ext cx="12191695" cy="54864"/>
          </a:xfrm>
          <a:prstGeom prst="rect">
            <a:avLst/>
          </a:prstGeom>
          <a:solidFill>
            <a:srgbClr val="2E74B5"/>
          </a:solidFill>
          <a:ln/>
        </p:spPr>
      </p:sp>
      <p:sp>
        <p:nvSpPr>
          <p:cNvPr id="4" name="Text 2"/>
          <p:cNvSpPr/>
          <p:nvPr/>
        </p:nvSpPr>
        <p:spPr>
          <a:xfrm>
            <a:off x="411480" y="109728"/>
            <a:ext cx="11338560" cy="731520"/>
          </a:xfrm>
          <a:prstGeom prst="rect">
            <a:avLst/>
          </a:prstGeom>
          <a:noFill/>
          <a:ln/>
        </p:spPr>
        <p:txBody>
          <a:bodyPr wrap="square"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重点与难点</a:t>
            </a:r>
            <a:endParaRPr lang="en-US" sz="2400" dirty="0"/>
          </a:p>
        </p:txBody>
      </p:sp>
      <p:sp>
        <p:nvSpPr>
          <p:cNvPr id="5" name="Text 3"/>
          <p:cNvSpPr/>
          <p:nvPr/>
        </p:nvSpPr>
        <p:spPr>
          <a:xfrm>
            <a:off x="640080" y="1463040"/>
            <a:ext cx="10881360" cy="4937760"/>
          </a:xfrm>
          <a:prstGeom prst="rect">
            <a:avLst/>
          </a:prstGeom>
          <a:noFill/>
          <a:ln/>
        </p:spPr>
        <p:txBody>
          <a:bodyPr wrap="square" rtlCol="0" anchor="t"/>
          <a:lstStyle/>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教学重点｜子网掩码的作用与'借位法/块大小法'子网划分方法，能按部门需求（人数+网关与打印机地址）完成子网划分并正确写出子网四要素。</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教学难点｜借位时'2ⁿ≥子网数、2ᵐ−2≥主机数'的位数取舍，以及'同IP不同掩码未必同网段'等判断类易错点的突破。</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突破方法｜案例演示 + 分层练习 + 即时反馈</a:t>
            </a:r>
            <a:endParaRPr lang="en-US" sz="1800" dirty="0"/>
          </a:p>
        </p:txBody>
      </p:sp>
      <p:sp>
        <p:nvSpPr>
          <p:cNvPr id="6" name="Text 4"/>
          <p:cNvSpPr/>
          <p:nvPr/>
        </p:nvSpPr>
        <p:spPr>
          <a:xfrm>
            <a:off x="411480" y="6446520"/>
            <a:ext cx="3657600" cy="274320"/>
          </a:xfrm>
          <a:prstGeom prst="rect">
            <a:avLst/>
          </a:prstGeom>
          <a:noFill/>
          <a:ln/>
        </p:spPr>
        <p:txBody>
          <a:bodyPr wrap="square" rtlCol="0" anchor="ctr"/>
          <a:lstStyle/>
          <a:p>
            <a:pPr indent="0" marL="0">
              <a:buNone/>
            </a:pPr>
            <a:r>
              <a:rPr lang="en-US" sz="900" dirty="0">
                <a:solidFill>
                  <a:srgbClr val="B0B0B0"/>
                </a:solidFill>
                <a:latin typeface="微软雅黑" pitchFamily="34" charset="0"/>
                <a:ea typeface="微软雅黑" pitchFamily="34" charset="-122"/>
                <a:cs typeface="微软雅黑" pitchFamily="34" charset="-120"/>
              </a:rPr>
              <a:t>智备教案 · AI 一键生成</a:t>
            </a:r>
            <a:endParaRPr lang="en-US" sz="900" dirty="0"/>
          </a:p>
        </p:txBody>
      </p:sp>
      <p:sp>
        <p:nvSpPr>
          <p:cNvPr id="7" name="Text 5"/>
          <p:cNvSpPr/>
          <p:nvPr/>
        </p:nvSpPr>
        <p:spPr>
          <a:xfrm>
            <a:off x="10424160" y="6446520"/>
            <a:ext cx="1371600" cy="274320"/>
          </a:xfrm>
          <a:prstGeom prst="rect">
            <a:avLst/>
          </a:prstGeom>
          <a:noFill/>
          <a:ln/>
        </p:spPr>
        <p:txBody>
          <a:bodyPr wrap="square" rtlCol="0" anchor="ctr"/>
          <a:lstStyle/>
          <a:p>
            <a:pPr algn="r" indent="0" marL="0">
              <a:buNone/>
            </a:pPr>
            <a:r>
              <a:rPr lang="en-US" sz="900" dirty="0">
                <a:solidFill>
                  <a:srgbClr val="B0B0B0"/>
                </a:solidFill>
                <a:latin typeface="微软雅黑" pitchFamily="34" charset="0"/>
                <a:ea typeface="微软雅黑" pitchFamily="34" charset="-122"/>
                <a:cs typeface="微软雅黑" pitchFamily="34" charset="-120"/>
              </a:rPr>
              <a:t>8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F3864"/>
          </a:solidFill>
          <a:ln/>
        </p:spPr>
      </p:sp>
      <p:sp>
        <p:nvSpPr>
          <p:cNvPr id="3" name="Shape 1"/>
          <p:cNvSpPr/>
          <p:nvPr/>
        </p:nvSpPr>
        <p:spPr>
          <a:xfrm>
            <a:off x="0" y="960120"/>
            <a:ext cx="12191695" cy="54864"/>
          </a:xfrm>
          <a:prstGeom prst="rect">
            <a:avLst/>
          </a:prstGeom>
          <a:solidFill>
            <a:srgbClr val="2E74B5"/>
          </a:solidFill>
          <a:ln/>
        </p:spPr>
      </p:sp>
      <p:sp>
        <p:nvSpPr>
          <p:cNvPr id="4" name="Text 2"/>
          <p:cNvSpPr/>
          <p:nvPr/>
        </p:nvSpPr>
        <p:spPr>
          <a:xfrm>
            <a:off x="411480" y="109728"/>
            <a:ext cx="11338560" cy="731520"/>
          </a:xfrm>
          <a:prstGeom prst="rect">
            <a:avLst/>
          </a:prstGeom>
          <a:noFill/>
          <a:ln/>
        </p:spPr>
        <p:txBody>
          <a:bodyPr wrap="square"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课堂小结</a:t>
            </a:r>
            <a:endParaRPr lang="en-US" sz="2400" dirty="0"/>
          </a:p>
        </p:txBody>
      </p:sp>
      <p:sp>
        <p:nvSpPr>
          <p:cNvPr id="5" name="Text 3"/>
          <p:cNvSpPr/>
          <p:nvPr/>
        </p:nvSpPr>
        <p:spPr>
          <a:xfrm>
            <a:off x="640080" y="1463040"/>
            <a:ext cx="10881360" cy="4937760"/>
          </a:xfrm>
          <a:prstGeom prst="rect">
            <a:avLst/>
          </a:prstGeom>
          <a:noFill/>
          <a:ln/>
        </p:spPr>
        <p:txBody>
          <a:bodyPr wrap="square" rtlCol="0" anchor="t"/>
          <a:lstStyle/>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已掌握：IP地址的概念与分类</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已掌握：子网掩码的作用</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已掌握：子网划分的方法</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已掌握：CIDR 无类别编址</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请同学们课后整理思维导图，巩固记忆</a:t>
            </a:r>
            <a:endParaRPr lang="en-US" sz="1800" dirty="0"/>
          </a:p>
        </p:txBody>
      </p:sp>
      <p:sp>
        <p:nvSpPr>
          <p:cNvPr id="6" name="Text 4"/>
          <p:cNvSpPr/>
          <p:nvPr/>
        </p:nvSpPr>
        <p:spPr>
          <a:xfrm>
            <a:off x="411480" y="6446520"/>
            <a:ext cx="3657600" cy="274320"/>
          </a:xfrm>
          <a:prstGeom prst="rect">
            <a:avLst/>
          </a:prstGeom>
          <a:noFill/>
          <a:ln/>
        </p:spPr>
        <p:txBody>
          <a:bodyPr wrap="square" rtlCol="0" anchor="ctr"/>
          <a:lstStyle/>
          <a:p>
            <a:pPr indent="0" marL="0">
              <a:buNone/>
            </a:pPr>
            <a:r>
              <a:rPr lang="en-US" sz="900" dirty="0">
                <a:solidFill>
                  <a:srgbClr val="B0B0B0"/>
                </a:solidFill>
                <a:latin typeface="微软雅黑" pitchFamily="34" charset="0"/>
                <a:ea typeface="微软雅黑" pitchFamily="34" charset="-122"/>
                <a:cs typeface="微软雅黑" pitchFamily="34" charset="-120"/>
              </a:rPr>
              <a:t>智备教案 · AI 一键生成</a:t>
            </a:r>
            <a:endParaRPr lang="en-US" sz="900" dirty="0"/>
          </a:p>
        </p:txBody>
      </p:sp>
      <p:sp>
        <p:nvSpPr>
          <p:cNvPr id="7" name="Text 5"/>
          <p:cNvSpPr/>
          <p:nvPr/>
        </p:nvSpPr>
        <p:spPr>
          <a:xfrm>
            <a:off x="10424160" y="6446520"/>
            <a:ext cx="1371600" cy="274320"/>
          </a:xfrm>
          <a:prstGeom prst="rect">
            <a:avLst/>
          </a:prstGeom>
          <a:noFill/>
          <a:ln/>
        </p:spPr>
        <p:txBody>
          <a:bodyPr wrap="square" rtlCol="0" anchor="ctr"/>
          <a:lstStyle/>
          <a:p>
            <a:pPr algn="r" indent="0" marL="0">
              <a:buNone/>
            </a:pPr>
            <a:r>
              <a:rPr lang="en-US" sz="900" dirty="0">
                <a:solidFill>
                  <a:srgbClr val="B0B0B0"/>
                </a:solidFill>
                <a:latin typeface="微软雅黑" pitchFamily="34" charset="0"/>
                <a:ea typeface="微软雅黑" pitchFamily="34" charset="-122"/>
                <a:cs typeface="微软雅黑" pitchFamily="34" charset="-120"/>
              </a:rPr>
              <a:t>9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F3864"/>
          </a:solidFill>
          <a:ln/>
        </p:spPr>
      </p:sp>
      <p:sp>
        <p:nvSpPr>
          <p:cNvPr id="3" name="Shape 1"/>
          <p:cNvSpPr/>
          <p:nvPr/>
        </p:nvSpPr>
        <p:spPr>
          <a:xfrm>
            <a:off x="0" y="960120"/>
            <a:ext cx="12191695" cy="54864"/>
          </a:xfrm>
          <a:prstGeom prst="rect">
            <a:avLst/>
          </a:prstGeom>
          <a:solidFill>
            <a:srgbClr val="2E74B5"/>
          </a:solidFill>
          <a:ln/>
        </p:spPr>
      </p:sp>
      <p:sp>
        <p:nvSpPr>
          <p:cNvPr id="4" name="Text 2"/>
          <p:cNvSpPr/>
          <p:nvPr/>
        </p:nvSpPr>
        <p:spPr>
          <a:xfrm>
            <a:off x="411480" y="109728"/>
            <a:ext cx="11338560" cy="731520"/>
          </a:xfrm>
          <a:prstGeom prst="rect">
            <a:avLst/>
          </a:prstGeom>
          <a:noFill/>
          <a:ln/>
        </p:spPr>
        <p:txBody>
          <a:bodyPr wrap="square"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作业布置</a:t>
            </a:r>
            <a:endParaRPr lang="en-US" sz="2400" dirty="0"/>
          </a:p>
        </p:txBody>
      </p:sp>
      <p:sp>
        <p:nvSpPr>
          <p:cNvPr id="5" name="Text 3"/>
          <p:cNvSpPr/>
          <p:nvPr/>
        </p:nvSpPr>
        <p:spPr>
          <a:xfrm>
            <a:off x="640080" y="1463040"/>
            <a:ext cx="10881360" cy="4937760"/>
          </a:xfrm>
          <a:prstGeom prst="rect">
            <a:avLst/>
          </a:prstGeom>
          <a:noFill/>
          <a:ln/>
        </p:spPr>
        <p:txBody>
          <a:bodyPr wrap="square" rtlCol="0" anchor="t"/>
          <a:lstStyle/>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基础题：①计算192.168.40.90/26的网络地址、广播地址、可用主机范围及数量（换用新地址独立检测，不得照搬课例）；②将172.16.0.0/16划分为8个子网，写出每个子网的四要素。拓展/实操题：①VLSM项目实操——给定192.168.8.0/24，为市场部100人、技术部50人、行政部20人按需从大到小划分子网，调用标准拓扑模板在Packet Tracer中配置地址并验证连通性，提交.pkt文件与子网划分表；②排障笔记：查阅资料说明主机获得169.254.x.x地址的原因与处置流程，写成200字排障记录。</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提交方式：学习平台线上提交</a:t>
            </a:r>
            <a:endParaRPr lang="en-US" sz="1800" dirty="0"/>
          </a:p>
          <a:p>
            <a:pPr indent="0" marL="0">
              <a:lnSpc>
                <a:spcPct val="150000"/>
              </a:lnSpc>
              <a:buNone/>
            </a:pPr>
            <a:r>
              <a:rPr lang="en-US" sz="1800" dirty="0">
                <a:solidFill>
                  <a:srgbClr val="333333"/>
                </a:solidFill>
                <a:latin typeface="微软雅黑" pitchFamily="34" charset="0"/>
                <a:ea typeface="微软雅黑" pitchFamily="34" charset="-122"/>
                <a:cs typeface="微软雅黑" pitchFamily="34" charset="-120"/>
              </a:rPr>
              <a:t>•  评价标准：准确性 + 完整性 + 及时性</a:t>
            </a:r>
            <a:endParaRPr lang="en-US" sz="1800" dirty="0"/>
          </a:p>
        </p:txBody>
      </p:sp>
      <p:sp>
        <p:nvSpPr>
          <p:cNvPr id="6" name="Text 4"/>
          <p:cNvSpPr/>
          <p:nvPr/>
        </p:nvSpPr>
        <p:spPr>
          <a:xfrm>
            <a:off x="411480" y="6446520"/>
            <a:ext cx="3657600" cy="274320"/>
          </a:xfrm>
          <a:prstGeom prst="rect">
            <a:avLst/>
          </a:prstGeom>
          <a:noFill/>
          <a:ln/>
        </p:spPr>
        <p:txBody>
          <a:bodyPr wrap="square" rtlCol="0" anchor="ctr"/>
          <a:lstStyle/>
          <a:p>
            <a:pPr indent="0" marL="0">
              <a:buNone/>
            </a:pPr>
            <a:r>
              <a:rPr lang="en-US" sz="900" dirty="0">
                <a:solidFill>
                  <a:srgbClr val="B0B0B0"/>
                </a:solidFill>
                <a:latin typeface="微软雅黑" pitchFamily="34" charset="0"/>
                <a:ea typeface="微软雅黑" pitchFamily="34" charset="-122"/>
                <a:cs typeface="微软雅黑" pitchFamily="34" charset="-120"/>
              </a:rPr>
              <a:t>智备教案 · AI 一键生成</a:t>
            </a:r>
            <a:endParaRPr lang="en-US" sz="900" dirty="0"/>
          </a:p>
        </p:txBody>
      </p:sp>
      <p:sp>
        <p:nvSpPr>
          <p:cNvPr id="7" name="Text 5"/>
          <p:cNvSpPr/>
          <p:nvPr/>
        </p:nvSpPr>
        <p:spPr>
          <a:xfrm>
            <a:off x="10424160" y="6446520"/>
            <a:ext cx="1371600" cy="274320"/>
          </a:xfrm>
          <a:prstGeom prst="rect">
            <a:avLst/>
          </a:prstGeom>
          <a:noFill/>
          <a:ln/>
        </p:spPr>
        <p:txBody>
          <a:bodyPr wrap="square" rtlCol="0" anchor="ctr"/>
          <a:lstStyle/>
          <a:p>
            <a:pPr algn="r" indent="0" marL="0">
              <a:buNone/>
            </a:pPr>
            <a:r>
              <a:rPr lang="en-US" sz="900" dirty="0">
                <a:solidFill>
                  <a:srgbClr val="B0B0B0"/>
                </a:solidFill>
                <a:latin typeface="微软雅黑" pitchFamily="34" charset="0"/>
                <a:ea typeface="微软雅黑" pitchFamily="34" charset="-122"/>
                <a:cs typeface="微软雅黑" pitchFamily="34" charset="-120"/>
              </a:rPr>
              <a:t>10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914400" y="2377440"/>
            <a:ext cx="10332720" cy="1097280"/>
          </a:xfrm>
          <a:prstGeom prst="rect">
            <a:avLst/>
          </a:prstGeom>
          <a:noFill/>
          <a:ln/>
        </p:spPr>
        <p:txBody>
          <a:bodyPr wrap="square" rtlCol="0" anchor="ctr"/>
          <a:lstStyle/>
          <a:p>
            <a:pPr algn="ctr" indent="0" marL="0">
              <a:buNone/>
            </a:pPr>
            <a:r>
              <a:rPr lang="en-US" sz="4400" b="1" dirty="0">
                <a:solidFill>
                  <a:srgbClr val="FFFFFF"/>
                </a:solidFill>
                <a:latin typeface="微软雅黑" pitchFamily="34" charset="0"/>
                <a:ea typeface="微软雅黑" pitchFamily="34" charset="-122"/>
                <a:cs typeface="微软雅黑" pitchFamily="34" charset="-120"/>
              </a:rPr>
              <a:t>感谢聆听</a:t>
            </a:r>
            <a:endParaRPr lang="en-US" sz="4400" dirty="0"/>
          </a:p>
        </p:txBody>
      </p:sp>
      <p:sp>
        <p:nvSpPr>
          <p:cNvPr id="3" name="Text 1"/>
          <p:cNvSpPr/>
          <p:nvPr/>
        </p:nvSpPr>
        <p:spPr>
          <a:xfrm>
            <a:off x="914400" y="3566160"/>
            <a:ext cx="10332720" cy="548640"/>
          </a:xfrm>
          <a:prstGeom prst="rect">
            <a:avLst/>
          </a:prstGeom>
          <a:noFill/>
          <a:ln/>
        </p:spPr>
        <p:txBody>
          <a:bodyPr wrap="square" rtlCol="0" anchor="ctr"/>
          <a:lstStyle/>
          <a:p>
            <a:pPr algn="ctr" indent="0" marL="0">
              <a:buNone/>
            </a:pPr>
            <a:r>
              <a:rPr lang="en-US" sz="1800" dirty="0">
                <a:solidFill>
                  <a:srgbClr val="D6E4F0"/>
                </a:solidFill>
                <a:latin typeface="微软雅黑" pitchFamily="34" charset="0"/>
                <a:ea typeface="微软雅黑" pitchFamily="34" charset="-122"/>
                <a:cs typeface="微软雅黑" pitchFamily="34" charset="-120"/>
              </a:rPr>
              <a:t>智备教案 · AI 一键生成</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浙工院 AI 应用大赛</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IP地址与子网划分——某公司部门网络地址规划项目</dc:title>
  <dc:subject>PptxGenJS Presentation</dc:subject>
  <dc:creator>张老师（网络技术教研室）</dc:creator>
  <cp:lastModifiedBy>张老师（网络技术教研室）</cp:lastModifiedBy>
  <cp:revision>1</cp:revision>
  <dcterms:created xsi:type="dcterms:W3CDTF">2026-09-02T08:37:43Z</dcterms:created>
  <dcterms:modified xsi:type="dcterms:W3CDTF">2026-09-02T08:37:43Z</dcterms:modified>
</cp:coreProperties>
</file>