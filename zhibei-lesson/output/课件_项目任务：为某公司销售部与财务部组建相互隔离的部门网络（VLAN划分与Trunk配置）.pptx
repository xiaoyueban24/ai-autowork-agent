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8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6357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开场：本节课主题「项目任务：为某公司销售部与财务部组建相互隔离的部门网络（</a:t>
            </a:r>
            <a:r>
              <a:rPr lang="en-US" altLang="zh-CN"/>
              <a:t>VL</a:t>
            </a:r>
            <a:r>
              <a:rPr lang="zh-CN" altLang="en-US"/>
              <a:t>」，</a:t>
            </a:r>
            <a:r>
              <a:rPr lang="en-US" altLang="zh-CN"/>
              <a:t>2</a:t>
            </a:r>
            <a:r>
              <a:rPr lang="zh-CN" altLang="en-US"/>
              <a:t>课时（</a:t>
            </a:r>
            <a:r>
              <a:rPr lang="en-US" altLang="zh-CN"/>
              <a:t>90</a:t>
            </a:r>
            <a:r>
              <a:rPr lang="zh-CN" altLang="en-US"/>
              <a:t>分钟）。先以提问导入，激活前备知识。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学习目标页：逐条讲解三维目标，强调「知识→能力→素养」递进关系，让学生明确本节课要达成的可测量成果。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知识框架页：逐个点击展示知识点，构建整体认知地图，说明知识点间的逻辑顺序。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重点难点页：先讲重点（</a:t>
            </a:r>
            <a:r>
              <a:rPr lang="en-US" altLang="zh-CN"/>
              <a:t>VLAN</a:t>
            </a:r>
            <a:r>
              <a:rPr lang="zh-CN" altLang="en-US"/>
              <a:t>的创建、</a:t>
            </a:r>
            <a:r>
              <a:rPr lang="en-US" altLang="zh-CN"/>
              <a:t>Access</a:t>
            </a:r>
            <a:r>
              <a:rPr lang="zh-CN" altLang="en-US"/>
              <a:t>端口划分与跨交换机</a:t>
            </a:r>
            <a:r>
              <a:rPr lang="en-US" altLang="zh-CN"/>
              <a:t>Trunk</a:t>
            </a:r>
            <a:r>
              <a:rPr lang="zh-CN" altLang="en-US"/>
              <a:t>链路），再讲难点（理解跨交换机同</a:t>
            </a:r>
            <a:r>
              <a:rPr lang="en-US" altLang="zh-CN"/>
              <a:t>VLAN</a:t>
            </a:r>
            <a:r>
              <a:rPr lang="zh-CN" altLang="en-US"/>
              <a:t>通信时</a:t>
            </a:r>
            <a:r>
              <a:rPr lang="en-US" altLang="zh-CN"/>
              <a:t>IEEE 802.1Q</a:t>
            </a:r>
            <a:r>
              <a:rPr lang="zh-CN" altLang="en-US"/>
              <a:t>标签的添加），说明突破策略。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教学过程页（五环节）：播放某公司销售部与财务部广播风暴导致网络瘫痪的案例视频，出示网络管理员岗位招聘要求中</a:t>
            </a:r>
            <a:r>
              <a:rPr lang="en-US" altLang="zh-CN"/>
              <a:t>'</a:t>
            </a:r>
            <a:r>
              <a:rPr lang="zh-CN" altLang="en-US"/>
              <a:t>能进行</a:t>
            </a:r>
            <a:r>
              <a:rPr lang="en-US" altLang="zh-CN"/>
              <a:t>VLAN</a:t>
            </a:r>
            <a:r>
              <a:rPr lang="zh-CN" altLang="en-US"/>
              <a:t>规划与配置</a:t>
            </a:r>
            <a:r>
              <a:rPr lang="en-US" altLang="zh-CN"/>
              <a:t>'</a:t>
            </a:r>
            <a:r>
              <a:rPr lang="zh-CN" altLang="en-US"/>
              <a:t>条目，抛｜意图：以真实岗位故障情境激发学习动机，引出</a:t>
            </a:r>
            <a:r>
              <a:rPr lang="en-US" altLang="zh-CN"/>
              <a:t>VLAN</a:t>
            </a:r>
            <a:r>
              <a:rPr lang="zh-CN" altLang="en-US"/>
              <a:t>的学习必要性，明确本项目任务目标。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讲解</a:t>
            </a:r>
            <a:r>
              <a:rPr lang="en-US" altLang="zh-CN"/>
              <a:t>VLAN</a:t>
            </a:r>
            <a:r>
              <a:rPr lang="zh-CN" altLang="en-US"/>
              <a:t>概念、作用与基于端口的划分方式，对比</a:t>
            </a:r>
            <a:r>
              <a:rPr lang="en-US" altLang="zh-CN"/>
              <a:t>Access</a:t>
            </a:r>
            <a:r>
              <a:rPr lang="zh-CN" altLang="en-US"/>
              <a:t>与</a:t>
            </a:r>
            <a:r>
              <a:rPr lang="en-US" altLang="zh-CN"/>
              <a:t>Trunk</a:t>
            </a:r>
            <a:r>
              <a:rPr lang="zh-CN" altLang="en-US"/>
              <a:t>链路；在仿真软件中演示创建</a:t>
            </a:r>
            <a:r>
              <a:rPr lang="en-US" altLang="zh-CN"/>
              <a:t>VLAN10/20</a:t>
            </a:r>
            <a:r>
              <a:rPr lang="zh-CN" altLang="en-US"/>
              <a:t>、划｜意图：讲清配置命令与链路类型这一教学重点，通过教师演示降低操作门槛，为后续实训做好准备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作业布置页：基础题：</a:t>
            </a:r>
            <a:r>
              <a:rPr lang="en-US" altLang="zh-CN"/>
              <a:t>1</a:t>
            </a:r>
            <a:r>
              <a:rPr lang="zh-CN" altLang="en-US"/>
              <a:t>）默写创建</a:t>
            </a:r>
            <a:r>
              <a:rPr lang="en-US" altLang="zh-CN"/>
              <a:t>VLAN30</a:t>
            </a:r>
            <a:r>
              <a:rPr lang="zh-CN" altLang="en-US"/>
              <a:t>、将端口</a:t>
            </a:r>
            <a:r>
              <a:rPr lang="en-US" altLang="zh-CN"/>
              <a:t>F0/5</a:t>
            </a:r>
            <a:r>
              <a:rPr lang="zh-CN" altLang="en-US"/>
              <a:t>划入该</a:t>
            </a:r>
            <a:r>
              <a:rPr lang="en-US" altLang="zh-CN"/>
              <a:t>VLAN</a:t>
            </a:r>
            <a:r>
              <a:rPr lang="zh-CN" altLang="en-US"/>
              <a:t>、将</a:t>
            </a:r>
            <a:r>
              <a:rPr lang="en-US" altLang="zh-CN"/>
              <a:t>F0/24</a:t>
            </a:r>
            <a:r>
              <a:rPr lang="zh-CN" altLang="en-US"/>
              <a:t>配置为</a:t>
            </a:r>
            <a:r>
              <a:rPr lang="en-US" altLang="zh-CN"/>
              <a:t>Trunk</a:t>
            </a:r>
            <a:r>
              <a:rPr lang="zh-CN" altLang="en-US"/>
              <a:t>的完整命令；</a:t>
            </a:r>
            <a:r>
              <a:rPr lang="en-US" altLang="zh-CN"/>
              <a:t>2</a:t>
            </a:r>
            <a:r>
              <a:rPr lang="zh-CN" altLang="en-US"/>
              <a:t>）用文字加图示说明</a:t>
            </a:r>
            <a:r>
              <a:rPr lang="en-US" altLang="zh-CN"/>
              <a:t>802.1Q</a:t>
            </a:r>
            <a:r>
              <a:rPr lang="zh-CN" altLang="en-US"/>
              <a:t>标签在</a:t>
            </a:r>
            <a:r>
              <a:rPr lang="en-US" altLang="zh-CN"/>
              <a:t>Access</a:t>
            </a:r>
            <a:r>
              <a:rPr lang="zh-CN" altLang="en-US"/>
              <a:t>口与</a:t>
            </a:r>
            <a:r>
              <a:rPr lang="en-US" altLang="zh-CN"/>
              <a:t>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结束页：回顾本节课知识框架，预告下节课内容，布置课后任务。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55245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9817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89660"/>
            <a:ext cx="112776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75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计算机网络技术</a:t>
            </a:r>
            <a:endParaRPr lang="en-US" sz="1275" dirty="0"/>
          </a:p>
        </p:txBody>
      </p:sp>
      <p:sp>
        <p:nvSpPr>
          <p:cNvPr id="6" name="Shape 4"/>
          <p:cNvSpPr/>
          <p:nvPr/>
        </p:nvSpPr>
        <p:spPr>
          <a:xfrm>
            <a:off x="914400" y="2400300"/>
            <a:ext cx="10363200" cy="1676400"/>
          </a:xfrm>
          <a:prstGeom prst="rect">
            <a:avLst/>
          </a:prstGeom>
          <a:solidFill>
            <a:srgbClr val="4A6B8A"/>
          </a:solidFill>
          <a:ln/>
        </p:spPr>
      </p:sp>
      <p:sp>
        <p:nvSpPr>
          <p:cNvPr id="7" name="Text 5"/>
          <p:cNvSpPr/>
          <p:nvPr/>
        </p:nvSpPr>
        <p:spPr>
          <a:xfrm>
            <a:off x="1447800" y="2598420"/>
            <a:ext cx="107442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项目任务：为某公司销售部与财务部组建相互隔离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447800" y="3046095"/>
            <a:ext cx="107442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的部门网络（VLAN划分与Trunk配置）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447800" y="3632835"/>
            <a:ext cx="107442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650" dirty="0">
                <a:solidFill>
                  <a:srgbClr val="BDC1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计算机网络技术 · 模块三 交换技术与局域网组建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4903470"/>
            <a:ext cx="112776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25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2025年3月18日（第2周 星期二 第3-4节）</a:t>
            </a:r>
            <a:endParaRPr lang="en-US" sz="1425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625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2197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838200"/>
            <a:ext cx="10363200" cy="0"/>
          </a:xfrm>
          <a:prstGeom prst="line">
            <a:avLst/>
          </a:prstGeom>
          <a:noFill/>
          <a:ln w="11430">
            <a:solidFill>
              <a:srgbClr val="D3DB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52550"/>
            <a:ext cx="112776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4500" dirty="0"/>
          </a:p>
        </p:txBody>
      </p:sp>
      <p:sp>
        <p:nvSpPr>
          <p:cNvPr id="7" name="Shape 5"/>
          <p:cNvSpPr/>
          <p:nvPr/>
        </p:nvSpPr>
        <p:spPr>
          <a:xfrm>
            <a:off x="971550" y="3352800"/>
            <a:ext cx="914400" cy="914400"/>
          </a:xfrm>
          <a:prstGeom prst="ellipse">
            <a:avLst/>
          </a:prstGeom>
          <a:solidFill>
            <a:srgbClr val="4A6B8A"/>
          </a:solidFill>
          <a:ln/>
        </p:spPr>
      </p:sp>
      <p:sp>
        <p:nvSpPr>
          <p:cNvPr id="8" name="Text 6"/>
          <p:cNvSpPr/>
          <p:nvPr/>
        </p:nvSpPr>
        <p:spPr>
          <a:xfrm>
            <a:off x="0" y="3678326"/>
            <a:ext cx="2857500" cy="351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2304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304" dirty="0"/>
          </a:p>
        </p:txBody>
      </p:sp>
      <p:sp>
        <p:nvSpPr>
          <p:cNvPr id="9" name="Shape 7"/>
          <p:cNvSpPr/>
          <p:nvPr/>
        </p:nvSpPr>
        <p:spPr>
          <a:xfrm>
            <a:off x="2114550" y="2419350"/>
            <a:ext cx="7124700" cy="838200"/>
          </a:xfrm>
          <a:prstGeom prst="roundRect">
            <a:avLst>
              <a:gd name="adj" fmla="val 13636"/>
            </a:avLst>
          </a:prstGeom>
          <a:solidFill>
            <a:srgbClr val="F9FBFC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8370" y="2503170"/>
            <a:ext cx="670560" cy="670560"/>
          </a:xfrm>
          <a:prstGeom prst="ellipse">
            <a:avLst/>
          </a:prstGeom>
          <a:solidFill>
            <a:srgbClr val="B96A5E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2744153"/>
            <a:ext cx="50673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002280" y="2486025"/>
            <a:ext cx="9189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知识目标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02280" y="2788920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能说出VLAN的概念、作用与划分方式，能准确表述Access链路与Trunk链路的区别及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02280" y="2998470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IEE…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14550" y="3390900"/>
            <a:ext cx="7124700" cy="838200"/>
          </a:xfrm>
          <a:prstGeom prst="roundRect">
            <a:avLst>
              <a:gd name="adj" fmla="val 13636"/>
            </a:avLst>
          </a:prstGeom>
          <a:solidFill>
            <a:srgbClr val="F9FBFC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8370" y="3474720"/>
            <a:ext cx="670560" cy="670560"/>
          </a:xfrm>
          <a:prstGeom prst="ellipse">
            <a:avLst/>
          </a:prstGeom>
          <a:solidFill>
            <a:srgbClr val="B96A5E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3715703"/>
            <a:ext cx="50673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002280" y="3457575"/>
            <a:ext cx="9189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能力目标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002280" y="3760470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会在交换机上独立完成VLAN创建、端口划分与Trunk配置，能利用ping和show命令验证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02280" y="3970020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部…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114550" y="4362450"/>
            <a:ext cx="7124700" cy="838200"/>
          </a:xfrm>
          <a:prstGeom prst="roundRect">
            <a:avLst>
              <a:gd name="adj" fmla="val 13636"/>
            </a:avLst>
          </a:prstGeom>
          <a:solidFill>
            <a:srgbClr val="F9FBFC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8370" y="4446270"/>
            <a:ext cx="670560" cy="670560"/>
          </a:xfrm>
          <a:prstGeom prst="ellipse">
            <a:avLst/>
          </a:prstGeom>
          <a:solidFill>
            <a:srgbClr val="B96A5E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4687253"/>
            <a:ext cx="50673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3002280" y="4429125"/>
            <a:ext cx="91897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素养目标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002280" y="4732020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养成规范操作、先备份后配置的工程习惯，树立网络信息安全意识与团队协作、精益求精的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02280" y="4941570"/>
            <a:ext cx="91897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职业精神。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0" y="5494020"/>
            <a:ext cx="112776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4800" dirty="0">
                <a:solidFill>
                  <a:srgbClr val="5A6470">
                    <a:alpha val="3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625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2197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知识框架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20078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知识点1 · IP地址的概念与分类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4079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知识点2 · 子网掩码的作用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079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知识点3 · 子网划分的方法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080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知识点4 · CIDR 无类别编址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diamond/>
      </p:transition>
    </mc:Choice>
    <mc:Fallback>
      <p:transition spd="med">
        <p:diamond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625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2197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重点与难点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B96A5E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D3DB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10" y="2472690"/>
            <a:ext cx="1022609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教学重点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34716" y="2472690"/>
            <a:ext cx="535728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教学难点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2762250"/>
            <a:ext cx="10363200" cy="0"/>
          </a:xfrm>
          <a:prstGeom prst="line">
            <a:avLst/>
          </a:prstGeom>
          <a:noFill/>
          <a:ln w="19050">
            <a:solidFill>
              <a:srgbClr val="2328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181350"/>
            <a:ext cx="10363200" cy="0"/>
          </a:xfrm>
          <a:prstGeom prst="line">
            <a:avLst/>
          </a:prstGeom>
          <a:noFill/>
          <a:ln w="9525">
            <a:solidFill>
              <a:srgbClr val="D3DB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600450"/>
            <a:ext cx="10363200" cy="0"/>
          </a:xfrm>
          <a:prstGeom prst="line">
            <a:avLst/>
          </a:prstGeom>
          <a:noFill/>
          <a:ln w="9525">
            <a:solidFill>
              <a:srgbClr val="D3DB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700" y="2907030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65910" y="2907030"/>
            <a:ext cx="1022609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VLAN的创建、Access端口划分与跨交换机Tr…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34716" y="2907030"/>
            <a:ext cx="535728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理解跨交换机同VLAN通信时IEEE 802.1Q…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8700" y="3326130"/>
            <a:ext cx="11163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突破方法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65910" y="3326130"/>
            <a:ext cx="1022609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案例演示 + 精讲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34716" y="3326130"/>
            <a:ext cx="535728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分层练习 + 反馈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omb dir="vert"/>
      </p:transition>
    </mc:Choice>
    <mc:Fallback>
      <p:transition spd="med">
        <p:comb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625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2197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37500"/>
            </a:avLst>
          </a:prstGeom>
          <a:solidFill>
            <a:srgbClr val="4A6B8A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992505"/>
            <a:ext cx="2438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教学过程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14400" y="1704975"/>
            <a:ext cx="1920240" cy="952500"/>
          </a:xfrm>
          <a:custGeom>
            <a:avLst/>
            <a:gdLst/>
            <a:ahLst/>
            <a:cxnLst/>
            <a:rect l="l" t="t" r="r" b="b"/>
            <a:pathLst>
              <a:path w="1920240" h="952500">
                <a:moveTo>
                  <a:pt x="0" y="209550"/>
                </a:moveTo>
                <a:lnTo>
                  <a:pt x="1386840" y="209550"/>
                </a:lnTo>
                <a:lnTo>
                  <a:pt x="1386840" y="0"/>
                </a:lnTo>
                <a:lnTo>
                  <a:pt x="1920240" y="476250"/>
                </a:lnTo>
                <a:lnTo>
                  <a:pt x="1386840" y="952500"/>
                </a:lnTo>
                <a:lnTo>
                  <a:pt x="138684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4A6B8A"/>
          </a:solidFill>
          <a:ln/>
        </p:spPr>
      </p:sp>
      <p:sp>
        <p:nvSpPr>
          <p:cNvPr id="9" name="Shape 7"/>
          <p:cNvSpPr/>
          <p:nvPr/>
        </p:nvSpPr>
        <p:spPr>
          <a:xfrm>
            <a:off x="1066800" y="1971675"/>
            <a:ext cx="419100" cy="419100"/>
          </a:xfrm>
          <a:prstGeom prst="ellipse">
            <a:avLst/>
          </a:prstGeom>
          <a:solidFill>
            <a:srgbClr val="ECF0F2"/>
          </a:solidFill>
          <a:ln w="23813">
            <a:solidFill>
              <a:srgbClr val="4A6B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2125980"/>
            <a:ext cx="2552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81150" y="2085975"/>
            <a:ext cx="106108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岗位情境导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878455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8min ·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088005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播放某公司销售部与财务部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297555"/>
            <a:ext cx="112776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广播风暴导致网络瘫痪…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25140" y="1704975"/>
            <a:ext cx="1920240" cy="952500"/>
          </a:xfrm>
          <a:custGeom>
            <a:avLst/>
            <a:gdLst/>
            <a:ahLst/>
            <a:cxnLst/>
            <a:rect l="l" t="t" r="r" b="b"/>
            <a:pathLst>
              <a:path w="1920240" h="952500">
                <a:moveTo>
                  <a:pt x="0" y="209550"/>
                </a:moveTo>
                <a:lnTo>
                  <a:pt x="1386840" y="209550"/>
                </a:lnTo>
                <a:lnTo>
                  <a:pt x="1386840" y="0"/>
                </a:lnTo>
                <a:lnTo>
                  <a:pt x="1920240" y="476250"/>
                </a:lnTo>
                <a:lnTo>
                  <a:pt x="1386840" y="952500"/>
                </a:lnTo>
                <a:lnTo>
                  <a:pt x="138684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4A6B8A"/>
          </a:solidFill>
          <a:ln/>
        </p:spPr>
      </p:sp>
      <p:sp>
        <p:nvSpPr>
          <p:cNvPr id="16" name="Shape 14"/>
          <p:cNvSpPr/>
          <p:nvPr/>
        </p:nvSpPr>
        <p:spPr>
          <a:xfrm>
            <a:off x="3177540" y="1971675"/>
            <a:ext cx="419100" cy="419100"/>
          </a:xfrm>
          <a:prstGeom prst="ellipse">
            <a:avLst/>
          </a:prstGeom>
          <a:solidFill>
            <a:srgbClr val="ECF0F2"/>
          </a:solidFill>
          <a:ln w="23813">
            <a:solidFill>
              <a:srgbClr val="4A6B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2125980"/>
            <a:ext cx="67741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91890" y="2085975"/>
            <a:ext cx="8500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新课讲授与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025140" y="2878455"/>
            <a:ext cx="91668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20min ·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25140" y="3088005"/>
            <a:ext cx="91668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讲解VLAN概念、作用与基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025140" y="3297555"/>
            <a:ext cx="91668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于端口的划分方式…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35880" y="1704975"/>
            <a:ext cx="1920240" cy="952500"/>
          </a:xfrm>
          <a:custGeom>
            <a:avLst/>
            <a:gdLst/>
            <a:ahLst/>
            <a:cxnLst/>
            <a:rect l="l" t="t" r="r" b="b"/>
            <a:pathLst>
              <a:path w="1920240" h="952500">
                <a:moveTo>
                  <a:pt x="0" y="209550"/>
                </a:moveTo>
                <a:lnTo>
                  <a:pt x="1386840" y="209550"/>
                </a:lnTo>
                <a:lnTo>
                  <a:pt x="1386840" y="0"/>
                </a:lnTo>
                <a:lnTo>
                  <a:pt x="1920240" y="476250"/>
                </a:lnTo>
                <a:lnTo>
                  <a:pt x="1386840" y="952500"/>
                </a:lnTo>
                <a:lnTo>
                  <a:pt x="138684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4A6B8A"/>
          </a:solidFill>
          <a:ln/>
        </p:spPr>
      </p:sp>
      <p:sp>
        <p:nvSpPr>
          <p:cNvPr id="23" name="Shape 21"/>
          <p:cNvSpPr/>
          <p:nvPr/>
        </p:nvSpPr>
        <p:spPr>
          <a:xfrm>
            <a:off x="5288280" y="1971675"/>
            <a:ext cx="419100" cy="419100"/>
          </a:xfrm>
          <a:prstGeom prst="ellipse">
            <a:avLst/>
          </a:prstGeom>
          <a:solidFill>
            <a:srgbClr val="ECF0F2"/>
          </a:solidFill>
          <a:ln w="23813">
            <a:solidFill>
              <a:srgbClr val="4A6B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2125980"/>
            <a:ext cx="109956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802630" y="2085975"/>
            <a:ext cx="638937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任务实训一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135880" y="2878455"/>
            <a:ext cx="70561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22min ·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35880" y="3088005"/>
            <a:ext cx="70561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下发任务工单一：在单台交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35880" y="3297555"/>
            <a:ext cx="70561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换机上创建销售部V…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46620" y="1704975"/>
            <a:ext cx="1920240" cy="952500"/>
          </a:xfrm>
          <a:custGeom>
            <a:avLst/>
            <a:gdLst/>
            <a:ahLst/>
            <a:cxnLst/>
            <a:rect l="l" t="t" r="r" b="b"/>
            <a:pathLst>
              <a:path w="1920240" h="952500">
                <a:moveTo>
                  <a:pt x="0" y="209550"/>
                </a:moveTo>
                <a:lnTo>
                  <a:pt x="1386840" y="209550"/>
                </a:lnTo>
                <a:lnTo>
                  <a:pt x="1386840" y="0"/>
                </a:lnTo>
                <a:lnTo>
                  <a:pt x="1920240" y="476250"/>
                </a:lnTo>
                <a:lnTo>
                  <a:pt x="1386840" y="952500"/>
                </a:lnTo>
                <a:lnTo>
                  <a:pt x="138684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4A6B8A"/>
          </a:solidFill>
          <a:ln/>
        </p:spPr>
      </p:sp>
      <p:sp>
        <p:nvSpPr>
          <p:cNvPr id="30" name="Shape 28"/>
          <p:cNvSpPr/>
          <p:nvPr/>
        </p:nvSpPr>
        <p:spPr>
          <a:xfrm>
            <a:off x="7399020" y="1971675"/>
            <a:ext cx="419100" cy="419100"/>
          </a:xfrm>
          <a:prstGeom prst="ellipse">
            <a:avLst/>
          </a:prstGeom>
          <a:solidFill>
            <a:srgbClr val="ECF0F2"/>
          </a:solidFill>
          <a:ln w="23813">
            <a:solidFill>
              <a:srgbClr val="4A6B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25140" y="2125980"/>
            <a:ext cx="91668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13370" y="2085975"/>
            <a:ext cx="42786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重难点突破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246620" y="2878455"/>
            <a:ext cx="49453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15min ·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46620" y="3088005"/>
            <a:ext cx="49453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利用微课动画《VLAN标签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46620" y="3297555"/>
            <a:ext cx="49453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的旅行》演示80…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357360" y="1704975"/>
            <a:ext cx="1920240" cy="952500"/>
          </a:xfrm>
          <a:custGeom>
            <a:avLst/>
            <a:gdLst/>
            <a:ahLst/>
            <a:cxnLst/>
            <a:rect l="l" t="t" r="r" b="b"/>
            <a:pathLst>
              <a:path w="1920240" h="952500">
                <a:moveTo>
                  <a:pt x="0" y="209550"/>
                </a:moveTo>
                <a:lnTo>
                  <a:pt x="1386840" y="209550"/>
                </a:lnTo>
                <a:lnTo>
                  <a:pt x="1386840" y="0"/>
                </a:lnTo>
                <a:lnTo>
                  <a:pt x="1920240" y="476250"/>
                </a:lnTo>
                <a:lnTo>
                  <a:pt x="1386840" y="952500"/>
                </a:lnTo>
                <a:lnTo>
                  <a:pt x="1386840" y="742950"/>
                </a:lnTo>
                <a:lnTo>
                  <a:pt x="0" y="742950"/>
                </a:lnTo>
                <a:close/>
              </a:path>
            </a:pathLst>
          </a:custGeom>
          <a:solidFill>
            <a:srgbClr val="4A6B8A"/>
          </a:solidFill>
          <a:ln/>
        </p:spPr>
      </p:sp>
      <p:sp>
        <p:nvSpPr>
          <p:cNvPr id="37" name="Shape 35"/>
          <p:cNvSpPr/>
          <p:nvPr/>
        </p:nvSpPr>
        <p:spPr>
          <a:xfrm>
            <a:off x="9509760" y="1971675"/>
            <a:ext cx="419100" cy="419100"/>
          </a:xfrm>
          <a:prstGeom prst="ellipse">
            <a:avLst/>
          </a:prstGeom>
          <a:solidFill>
            <a:srgbClr val="ECF0F2"/>
          </a:solidFill>
          <a:ln w="23813">
            <a:solidFill>
              <a:srgbClr val="4A6B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46620" y="2125980"/>
            <a:ext cx="49453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6B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024110" y="2085975"/>
            <a:ext cx="216789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任务实训二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357360" y="2878455"/>
            <a:ext cx="28346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15min ·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357360" y="3088005"/>
            <a:ext cx="28346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下发综合项目工单：按企业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357360" y="3297555"/>
            <a:ext cx="28346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拓扑完成两台交换机…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edge/>
      </p:transition>
    </mc:Choice>
    <mc:Fallback>
      <p:transition spd="med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625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2197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板书设计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20078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项目：企业部门网络隔离（VLAN）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4079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一、VLAN：逻辑隔离广播域，基于…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079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二、两类链路：Access（接PC…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2080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三、配置四步法：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6080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vlan 10 创建VLAN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wheel spokes="8"/>
      </p:transition>
    </mc:Choice>
    <mc:Fallback>
      <p:transition spd="med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7625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5219700"/>
            <a:ext cx="10363200" cy="0"/>
          </a:xfrm>
          <a:prstGeom prst="line">
            <a:avLst/>
          </a:prstGeom>
          <a:noFill/>
          <a:ln w="9525">
            <a:solidFill>
              <a:srgbClr val="D3DBE0">
                <a:alpha val="5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作业布置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20078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基础题：1）默写创建VLAN30、将端口F…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4079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提交：学习平台线上提交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079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评价：准确性 + 完整性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ut/>
      </p:transition>
    </mc:Choice>
    <mc:Fallback>
      <p:transition spd="med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0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914400"/>
            <a:ext cx="1676400" cy="533400"/>
          </a:xfrm>
          <a:prstGeom prst="rect">
            <a:avLst/>
          </a:prstGeom>
          <a:solidFill>
            <a:srgbClr val="B96A5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093470"/>
            <a:ext cx="3505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课后作业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09800"/>
            <a:ext cx="11277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232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课堂小结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" y="4762500"/>
            <a:ext cx="10363200" cy="0"/>
          </a:xfrm>
          <a:prstGeom prst="line">
            <a:avLst/>
          </a:prstGeom>
          <a:noFill/>
          <a:ln w="9525">
            <a:solidFill>
              <a:srgbClr val="D3DB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379720"/>
            <a:ext cx="112776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1425" dirty="0">
                <a:solidFill>
                  <a:srgbClr val="5A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 + 作业</a:t>
            </a:r>
            <a:endParaRPr lang="en-US" sz="1425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circle/>
      </p:transition>
    </mc:Choice>
    <mc:Fallback>
      <p:transition spd="med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728</Words>
  <Application>Microsoft Office PowerPoint</Application>
  <PresentationFormat>自定义</PresentationFormat>
  <Paragraphs>90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uiwe uiwe</cp:lastModifiedBy>
  <cp:revision>2</cp:revision>
  <dcterms:created xsi:type="dcterms:W3CDTF">1980-01-01T00:00:00Z</dcterms:created>
  <dcterms:modified xsi:type="dcterms:W3CDTF">2026-09-03T02:24:37Z</dcterms:modified>
</cp:coreProperties>
</file>